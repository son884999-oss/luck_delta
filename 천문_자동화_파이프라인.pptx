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5A5A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부속 자료 · 개발 자동화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22960" y="1078992"/>
            <a:ext cx="10545775" cy="0"/>
          </a:xfrm>
          <a:prstGeom prst="line">
            <a:avLst/>
          </a:prstGeom>
          <a:noFill/>
          <a:ln w="28575">
            <a:solidFill>
              <a:srgbClr val="1F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2468880"/>
            <a:ext cx="12191695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발표자료 자동화 파이프라인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0" y="3383280"/>
            <a:ext cx="12191695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78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스크린샷 자동 촬영 → 최신화 → PowerPoint 자동 생성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0" y="3931920"/>
            <a:ext cx="12191695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5A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명령 한 줄로 앱의 모든 기능 화면을 다시 찍고 발표자료를 재생성합니다.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78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371600" y="384048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A5A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개요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442655" y="384048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천문(天文) · 발표자료 자동화 파이프라인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024128"/>
            <a:ext cx="11094415" cy="0"/>
          </a:xfrm>
          <a:prstGeom prst="line">
            <a:avLst/>
          </a:prstGeom>
          <a:noFill/>
          <a:ln w="19050">
            <a:solidFill>
              <a:srgbClr val="1F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70432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한눈에 보는 자동화 흐름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640080" y="2651760"/>
            <a:ext cx="2331720" cy="2011680"/>
          </a:xfrm>
          <a:prstGeom prst="roundRect">
            <a:avLst>
              <a:gd name="adj" fmla="val 3636"/>
            </a:avLst>
          </a:prstGeom>
          <a:solidFill>
            <a:srgbClr val="F4F6FA"/>
          </a:solidFill>
          <a:ln w="19050">
            <a:solidFill>
              <a:srgbClr val="1F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76148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78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49808" y="3200400"/>
            <a:ext cx="211226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캡처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49808" y="3611880"/>
            <a:ext cx="211226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5A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헤드리스 브라우저가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5A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앱을 자동 조작·촬영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017520" y="3474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78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429000" y="2651760"/>
            <a:ext cx="2331720" cy="2011680"/>
          </a:xfrm>
          <a:prstGeom prst="roundRect">
            <a:avLst>
              <a:gd name="adj" fmla="val 3636"/>
            </a:avLst>
          </a:prstGeom>
          <a:solidFill>
            <a:srgbClr val="F4F6FA"/>
          </a:solidFill>
          <a:ln w="19050">
            <a:solidFill>
              <a:srgbClr val="1F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38728" y="276148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78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538728" y="3200400"/>
            <a:ext cx="211226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최신화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3538728" y="3611880"/>
            <a:ext cx="211226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5A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screenshots/ 폴더의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5A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이미지를 새 화면으로 갱신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806440" y="3474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78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217920" y="2651760"/>
            <a:ext cx="2331720" cy="2011680"/>
          </a:xfrm>
          <a:prstGeom prst="roundRect">
            <a:avLst>
              <a:gd name="adj" fmla="val 3636"/>
            </a:avLst>
          </a:prstGeom>
          <a:solidFill>
            <a:srgbClr val="F4F6FA"/>
          </a:solidFill>
          <a:ln w="19050">
            <a:solidFill>
              <a:srgbClr val="1F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27648" y="276148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78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327648" y="3200400"/>
            <a:ext cx="211226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빌드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327648" y="3611880"/>
            <a:ext cx="211226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5A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이미지+대본을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5A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PPTX로 자동 조판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595360" y="3474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78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9006840" y="2651760"/>
            <a:ext cx="2331720" cy="2011680"/>
          </a:xfrm>
          <a:prstGeom prst="roundRect">
            <a:avLst>
              <a:gd name="adj" fmla="val 3636"/>
            </a:avLst>
          </a:prstGeom>
          <a:solidFill>
            <a:srgbClr val="F4F6FA"/>
          </a:solidFill>
          <a:ln w="19050">
            <a:solidFill>
              <a:srgbClr val="1F3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16568" y="276148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78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9116568" y="3200400"/>
            <a:ext cx="211226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9116568" y="3611880"/>
            <a:ext cx="211226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5A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천문_발표자료.pptx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5A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(공문서 양식 23면)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40080" y="5029200"/>
            <a:ext cx="1091153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핵심: 사람이 화면을 일일이 캡처·붙여넣기 하지 않는다. 코드가 앱을 직접 열어 찍고, 그 자리에서 발표자료까지 만든다.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548640" y="6455664"/>
            <a:ext cx="11094415" cy="0"/>
          </a:xfrm>
          <a:prstGeom prst="line">
            <a:avLst/>
          </a:prstGeom>
          <a:noFill/>
          <a:ln w="12700">
            <a:solidFill>
              <a:srgbClr val="D7DBE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647395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천문(天文) · 발표자료 자동화 파이프라인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9814255" y="647395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- 1 -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78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371600" y="384048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A5A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사용법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442655" y="384048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천문(天文) · 발표자료 자동화 파이프라인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024128"/>
            <a:ext cx="11094415" cy="0"/>
          </a:xfrm>
          <a:prstGeom prst="line">
            <a:avLst/>
          </a:prstGeom>
          <a:noFill/>
          <a:ln w="19050">
            <a:solidFill>
              <a:srgbClr val="1F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70432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명령어 한 줄이면 끝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640080" y="2011680"/>
            <a:ext cx="6126480" cy="4114800"/>
          </a:xfrm>
          <a:prstGeom prst="roundRect">
            <a:avLst>
              <a:gd name="adj" fmla="val 1111"/>
            </a:avLst>
          </a:prstGeom>
          <a:solidFill>
            <a:srgbClr val="0E1530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148840"/>
            <a:ext cx="57607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7E8A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1) 화면 캡처만 갱신 (배포본 기준)
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7E0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shots
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7E0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7E8A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2) 갱신된 이미지로 발표자료 생성
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7E0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pptx
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7E0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7E8A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3) 위 둘을 한 번에 (촬영→최신화→빌드)
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7E0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deck
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7E0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7E8A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로컬 개발 서버 대상으로 캡처할 때
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7E0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shots http://localhost:5173
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040880" y="2194560"/>
            <a:ext cx="45720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2000"/>
              </a:lnSpc>
              <a:spcBef>
                <a:spcPts val="600"/>
              </a:spcBef>
              <a:spcAft>
                <a:spcPts val="1100"/>
              </a:spcAft>
              <a:buSzPct val="100000"/>
              <a:buChar char="▪"/>
            </a:pPr>
            <a:r>
              <a:rPr lang="en-US" sz="15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shots : 앱을 열어 기능별 화면·상호작용을 자동 촬영</a:t>
            </a:r>
            <a:endParaRPr lang="en-US" sz="1500" dirty="0"/>
          </a:p>
          <a:p>
            <a:pPr marL="228600" indent="-228600">
              <a:lnSpc>
                <a:spcPct val="112000"/>
              </a:lnSpc>
              <a:spcAft>
                <a:spcPts val="1100"/>
              </a:spcAft>
              <a:buSzPct val="100000"/>
              <a:buChar char="▪"/>
            </a:pPr>
            <a:r>
              <a:rPr lang="en-US" sz="15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pptx : screenshots/ 이미지를 PPTX로 자동 조판</a:t>
            </a:r>
            <a:endParaRPr lang="en-US" sz="1500" dirty="0"/>
          </a:p>
          <a:p>
            <a:pPr marL="228600" indent="-228600">
              <a:lnSpc>
                <a:spcPct val="112000"/>
              </a:lnSpc>
              <a:spcAft>
                <a:spcPts val="1100"/>
              </a:spcAft>
              <a:buSzPct val="100000"/>
              <a:buChar char="▪"/>
            </a:pPr>
            <a:r>
              <a:rPr lang="en-US" sz="15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deck : 촬영부터 빌드까지 한 번에 — 기능이 바뀌면 이 한 줄</a:t>
            </a:r>
            <a:endParaRPr lang="en-US" sz="1500" dirty="0"/>
          </a:p>
          <a:p>
            <a:pPr marL="228600" indent="-228600">
              <a:lnSpc>
                <a:spcPct val="112000"/>
              </a:lnSpc>
              <a:spcAft>
                <a:spcPts val="1100"/>
              </a:spcAft>
              <a:buSzPct val="100000"/>
              <a:buChar char="▪"/>
            </a:pPr>
            <a:r>
              <a:rPr lang="en-US" sz="15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 URL을 인자로 주면 배포본/로컬 선택 가능</a:t>
            </a:r>
            <a:endParaRPr lang="en-US" sz="1500" dirty="0"/>
          </a:p>
          <a:p>
            <a:pPr marL="228600" indent="-228600">
              <a:lnSpc>
                <a:spcPct val="112000"/>
              </a:lnSpc>
              <a:spcAft>
                <a:spcPts val="1100"/>
              </a:spcAft>
              <a:buSzPct val="100000"/>
              <a:buChar char="▪"/>
            </a:pPr>
            <a:r>
              <a:rPr lang="en-US" sz="15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결과물: 천문_발표자료.pptx (항상 최신 화면 반영)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6455664"/>
            <a:ext cx="11094415" cy="0"/>
          </a:xfrm>
          <a:prstGeom prst="line">
            <a:avLst/>
          </a:prstGeom>
          <a:noFill/>
          <a:ln w="12700">
            <a:solidFill>
              <a:srgbClr val="D7DB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647395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천문(天文) · 발표자료 자동화 파이프라인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814255" y="647395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- 2 -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78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371600" y="384048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A5A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1단계 · 캡처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442655" y="384048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천문(天文) · 발표자료 자동화 파이프라인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024128"/>
            <a:ext cx="11094415" cy="0"/>
          </a:xfrm>
          <a:prstGeom prst="line">
            <a:avLst/>
          </a:prstGeom>
          <a:noFill/>
          <a:ln w="19050">
            <a:solidFill>
              <a:srgbClr val="1F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70432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브라우저를 코드로 조작해 촬영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40080" y="2057400"/>
            <a:ext cx="64008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2000"/>
              </a:lnSpc>
              <a:spcBef>
                <a:spcPts val="600"/>
              </a:spcBef>
              <a:spcAft>
                <a:spcPts val="1100"/>
              </a:spcAft>
              <a:buSzPct val="100000"/>
              <a:buChar char="▪"/>
            </a:pPr>
            <a:r>
              <a:rPr lang="en-US" sz="155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Playwright + 시스템 Edge(설치 불필요)로 헤드리스 구동</a:t>
            </a:r>
            <a:endParaRPr lang="en-US" sz="1550" dirty="0"/>
          </a:p>
          <a:p>
            <a:pPr marL="228600" indent="-228600">
              <a:lnSpc>
                <a:spcPct val="112000"/>
              </a:lnSpc>
              <a:spcAft>
                <a:spcPts val="1100"/>
              </a:spcAft>
              <a:buSzPct val="100000"/>
              <a:buChar char="▪"/>
            </a:pPr>
            <a:r>
              <a:rPr lang="en-US" sz="155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모바일 화면(412×915, 2배 선명도)으로 실제 사용 환경 재현</a:t>
            </a:r>
            <a:endParaRPr lang="en-US" sz="1550" dirty="0"/>
          </a:p>
          <a:p>
            <a:pPr marL="228600" indent="-228600">
              <a:lnSpc>
                <a:spcPct val="112000"/>
              </a:lnSpc>
              <a:spcAft>
                <a:spcPts val="1100"/>
              </a:spcAft>
              <a:buSzPct val="100000"/>
              <a:buChar char="▪"/>
            </a:pPr>
            <a:r>
              <a:rPr lang="en-US" sz="155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localStorage에 생년월일을 미리 주입 → 곧바로 메인 화면 진입</a:t>
            </a:r>
            <a:endParaRPr lang="en-US" sz="1550" dirty="0"/>
          </a:p>
          <a:p>
            <a:pPr marL="228600" indent="-228600">
              <a:lnSpc>
                <a:spcPct val="112000"/>
              </a:lnSpc>
              <a:spcAft>
                <a:spcPts val="1100"/>
              </a:spcAft>
              <a:buSzPct val="100000"/>
              <a:buChar char="▪"/>
            </a:pPr>
            <a:r>
              <a:rPr lang="en-US" sz="155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화면의 버튼·텍스트를 코드가 눌러 각 기능으로 이동</a:t>
            </a:r>
            <a:endParaRPr lang="en-US" sz="1550" dirty="0"/>
          </a:p>
          <a:p>
            <a:pPr marL="228600" indent="-228600">
              <a:lnSpc>
                <a:spcPct val="112000"/>
              </a:lnSpc>
              <a:spcAft>
                <a:spcPts val="1100"/>
              </a:spcAft>
              <a:buSzPct val="100000"/>
              <a:buChar char="▪"/>
            </a:pPr>
            <a:r>
              <a:rPr lang="en-US" sz="155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 뒤집기·점수 공개·타로 뽑기 등 상호작용까지 자동 수행</a:t>
            </a:r>
            <a:endParaRPr lang="en-US" sz="1550" dirty="0"/>
          </a:p>
          <a:p>
            <a:pPr marL="228600" indent="-228600">
              <a:lnSpc>
                <a:spcPct val="112000"/>
              </a:lnSpc>
              <a:spcAft>
                <a:spcPts val="1100"/>
              </a:spcAft>
              <a:buSzPct val="100000"/>
              <a:buChar char="▪"/>
            </a:pPr>
            <a:r>
              <a:rPr lang="en-US" sz="155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결과 화면은 분석 완료(‘메인으로’ 노출)까지 대기 후 촬영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7315200" y="2057400"/>
            <a:ext cx="4297680" cy="2743200"/>
          </a:xfrm>
          <a:prstGeom prst="roundRect">
            <a:avLst>
              <a:gd name="adj" fmla="val 1667"/>
            </a:avLst>
          </a:prstGeom>
          <a:solidFill>
            <a:srgbClr val="0E1530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0" y="2194560"/>
            <a:ext cx="39319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7E8A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scripts/deck/capture-kit.mjs (요약)
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7E0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b = await launchEdge();
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7E0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ctx = await mobileContext(b,
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7E0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seed, geo });   // 생일·위치 주입
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7E0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page.getByText('천문 식탁').click();
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7E0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flip(page);   // 카드 뒤집기
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7E0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shot(page, '26_food_back');
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6455664"/>
            <a:ext cx="11094415" cy="0"/>
          </a:xfrm>
          <a:prstGeom prst="line">
            <a:avLst/>
          </a:prstGeom>
          <a:noFill/>
          <a:ln w="12700">
            <a:solidFill>
              <a:srgbClr val="D7DB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647395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천문(天文) · 발표자료 자동화 파이프라인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814255" y="647395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- 3 -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78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371600" y="384048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A5A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1단계 · 결과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442655" y="384048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천문(天文) · 발표자료 자동화 파이프라인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024128"/>
            <a:ext cx="11094415" cy="0"/>
          </a:xfrm>
          <a:prstGeom prst="line">
            <a:avLst/>
          </a:prstGeom>
          <a:noFill/>
          <a:ln w="19050">
            <a:solidFill>
              <a:srgbClr val="1F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70432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촬영된 화면 예시</a:t>
            </a:r>
            <a:endParaRPr lang="en-US" sz="2500" dirty="0"/>
          </a:p>
        </p:txBody>
      </p:sp>
      <p:pic>
        <p:nvPicPr>
          <p:cNvPr id="7" name="Image 0" descr="screenshots/03_hu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90042" y="2011680"/>
            <a:ext cx="1811611" cy="402336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9AA3B2">
                <a:alpha val="40000"/>
              </a:srgbClr>
            </a:outerShdw>
          </a:effectLst>
        </p:spPr>
      </p:pic>
      <p:sp>
        <p:nvSpPr>
          <p:cNvPr id="8" name="Text 5"/>
          <p:cNvSpPr/>
          <p:nvPr/>
        </p:nvSpPr>
        <p:spPr>
          <a:xfrm>
            <a:off x="640080" y="617220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A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화면 · 카드(펼치기 전) · 카드(펼친 후) · 타로 결과 — 모두 사람 손 없이 자동 캡처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6455664"/>
            <a:ext cx="11094415" cy="0"/>
          </a:xfrm>
          <a:prstGeom prst="line">
            <a:avLst/>
          </a:prstGeom>
          <a:noFill/>
          <a:ln w="12700">
            <a:solidFill>
              <a:srgbClr val="D7DBE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647395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천문(天文) · 발표자료 자동화 파이프라인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9814255" y="647395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- 4 -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78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371600" y="384048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A5A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2·3단계 · 빌드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442655" y="384048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천문(天文) · 발표자료 자동화 파이프라인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024128"/>
            <a:ext cx="11094415" cy="0"/>
          </a:xfrm>
          <a:prstGeom prst="line">
            <a:avLst/>
          </a:prstGeom>
          <a:noFill/>
          <a:ln w="19050">
            <a:solidFill>
              <a:srgbClr val="1F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70432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이미지+대본을 PPTX로 조판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40080" y="2057400"/>
            <a:ext cx="64008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2000"/>
              </a:lnSpc>
              <a:spcBef>
                <a:spcPts val="600"/>
              </a:spcBef>
              <a:spcAft>
                <a:spcPts val="1100"/>
              </a:spcAft>
              <a:buSzPct val="100000"/>
              <a:buChar char="▪"/>
            </a:pPr>
            <a:r>
              <a:rPr lang="en-US" sz="155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pptxgenjs로 슬라이드를 코드로 생성(공문서 양식 템플릿)</a:t>
            </a:r>
            <a:endParaRPr lang="en-US" sz="1550" dirty="0"/>
          </a:p>
          <a:p>
            <a:pPr marL="228600" indent="-228600">
              <a:lnSpc>
                <a:spcPct val="112000"/>
              </a:lnSpc>
              <a:spcAft>
                <a:spcPts val="1100"/>
              </a:spcAft>
              <a:buSzPct val="100000"/>
              <a:buChar char="▪"/>
            </a:pPr>
            <a:r>
              <a:rPr lang="en-US" sz="155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이미지의 실제 해상도를 읽어 비율 보존 배치(세로/가로 자동)</a:t>
            </a:r>
            <a:endParaRPr lang="en-US" sz="1550" dirty="0"/>
          </a:p>
          <a:p>
            <a:pPr marL="228600" indent="-228600">
              <a:lnSpc>
                <a:spcPct val="112000"/>
              </a:lnSpc>
              <a:spcAft>
                <a:spcPts val="1100"/>
              </a:spcAft>
              <a:buSzPct val="100000"/>
              <a:buChar char="▪"/>
            </a:pPr>
            <a:r>
              <a:rPr lang="en-US" sz="155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엔진과 내용 분리: deck/(범용 엔진) ↔ build-*.mjs(천문 대본)</a:t>
            </a:r>
            <a:endParaRPr lang="en-US" sz="1550" dirty="0"/>
          </a:p>
          <a:p>
            <a:pPr marL="228600" indent="-228600">
              <a:lnSpc>
                <a:spcPct val="112000"/>
              </a:lnSpc>
              <a:spcAft>
                <a:spcPts val="1100"/>
              </a:spcAft>
              <a:buSzPct val="100000"/>
              <a:buChar char="▪"/>
            </a:pPr>
            <a:r>
              <a:rPr lang="en-US" sz="155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머리글·바닥글·쪽번호·괘선을 모든 면에 일관 적용</a:t>
            </a:r>
            <a:endParaRPr lang="en-US" sz="1550" dirty="0"/>
          </a:p>
          <a:p>
            <a:pPr marL="228600" indent="-228600">
              <a:lnSpc>
                <a:spcPct val="112000"/>
              </a:lnSpc>
              <a:spcAft>
                <a:spcPts val="1100"/>
              </a:spcAft>
              <a:buSzPct val="100000"/>
              <a:buChar char="▪"/>
            </a:pPr>
            <a:r>
              <a:rPr lang="en-US" sz="155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발표자 노트까지 자동 삽입 → 발표 준비 시간 단축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7315200" y="2057400"/>
            <a:ext cx="4297680" cy="2926080"/>
          </a:xfrm>
          <a:prstGeom prst="roundRect">
            <a:avLst>
              <a:gd name="adj" fmla="val 1563"/>
            </a:avLst>
          </a:prstGeom>
          <a:solidFill>
            <a:srgbClr val="0E1530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0" y="2194560"/>
            <a:ext cx="393192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7E8A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scripts/build-pptx.mjs (요약)
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7E0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newDeck, makeKit }
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7E0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 './deck/pptx-kit.mjs';
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7E0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K = makeKit(pptx, {...});
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7E0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(const c of S)
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7E0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K.content(pptx.addSlide(), c);
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7E0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pptx.writeFile(
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7E0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fileName:'천문_발표자료.pptx' });
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6455664"/>
            <a:ext cx="11094415" cy="0"/>
          </a:xfrm>
          <a:prstGeom prst="line">
            <a:avLst/>
          </a:prstGeom>
          <a:noFill/>
          <a:ln w="12700">
            <a:solidFill>
              <a:srgbClr val="D7DB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647395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천문(天文) · 발표자료 자동화 파이프라인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814255" y="647395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- 5 -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78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371600" y="384048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A5A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재사용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442655" y="384048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천문(天文) · 발표자료 자동화 파이프라인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024128"/>
            <a:ext cx="11094415" cy="0"/>
          </a:xfrm>
          <a:prstGeom prst="line">
            <a:avLst/>
          </a:prstGeom>
          <a:noFill/>
          <a:ln w="19050">
            <a:solidFill>
              <a:srgbClr val="1F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70432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프로젝트로 추출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40080" y="2057400"/>
            <a:ext cx="75895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2000"/>
              </a:lnSpc>
              <a:spcBef>
                <a:spcPts val="600"/>
              </a:spcBef>
              <a:spcAft>
                <a:spcPts val="1100"/>
              </a:spcAft>
              <a:buSzPct val="100000"/>
              <a:buChar char="▪"/>
            </a:pPr>
            <a:r>
              <a:rPr lang="en-US" sz="16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scripts/deck/ 폴더만 복사하면 엔진 이식 완료(프로젝트 의존 없음)</a:t>
            </a:r>
            <a:endParaRPr lang="en-US" sz="1600" dirty="0"/>
          </a:p>
          <a:p>
            <a:pPr marL="228600" indent="-228600">
              <a:lnSpc>
                <a:spcPct val="112000"/>
              </a:lnSpc>
              <a:spcAft>
                <a:spcPts val="1100"/>
              </a:spcAft>
              <a:buSzPct val="100000"/>
              <a:buChar char="▪"/>
            </a:pPr>
            <a:r>
              <a:rPr lang="en-US" sz="16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pptx-kit.mjs : 공문서 PPTX 빌더(표지·본문·코드박스·흐름도)</a:t>
            </a:r>
            <a:endParaRPr lang="en-US" sz="1600" dirty="0"/>
          </a:p>
          <a:p>
            <a:pPr marL="228600" indent="-228600">
              <a:lnSpc>
                <a:spcPct val="112000"/>
              </a:lnSpc>
              <a:spcAft>
                <a:spcPts val="1100"/>
              </a:spcAft>
              <a:buSzPct val="100000"/>
              <a:buChar char="▪"/>
            </a:pPr>
            <a:r>
              <a:rPr lang="en-US" sz="16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capture-kit.mjs : 브라우저 실행·캡처·대기·플립 공통 헬퍼</a:t>
            </a:r>
            <a:endParaRPr lang="en-US" sz="1600" dirty="0"/>
          </a:p>
          <a:p>
            <a:pPr marL="228600" indent="-228600">
              <a:lnSpc>
                <a:spcPct val="112000"/>
              </a:lnSpc>
              <a:spcAft>
                <a:spcPts val="1100"/>
              </a:spcAft>
              <a:buSzPct val="100000"/>
              <a:buChar char="▪"/>
            </a:pPr>
            <a:r>
              <a:rPr lang="en-US" sz="16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imgsize.mjs : 이미지 해상도 판별(외부 의존 0)</a:t>
            </a:r>
            <a:endParaRPr lang="en-US" sz="1600" dirty="0"/>
          </a:p>
          <a:p>
            <a:pPr marL="228600" indent="-228600">
              <a:lnSpc>
                <a:spcPct val="112000"/>
              </a:lnSpc>
              <a:spcAft>
                <a:spcPts val="1100"/>
              </a:spcAft>
              <a:buSzPct val="100000"/>
              <a:buChar char="▪"/>
            </a:pPr>
            <a:r>
              <a:rPr lang="en-US" sz="16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프로젝트는 셀렉터·대본만 새로 작성 → 즉시 발표자료 자동화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6455664"/>
            <a:ext cx="11094415" cy="0"/>
          </a:xfrm>
          <a:prstGeom prst="line">
            <a:avLst/>
          </a:prstGeom>
          <a:noFill/>
          <a:ln w="12700">
            <a:solidFill>
              <a:srgbClr val="D7DBE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647395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천문(天文) · 발표자료 자동화 파이프라인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814255" y="647395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- 6 -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A5A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맺음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1024128"/>
            <a:ext cx="11094415" cy="0"/>
          </a:xfrm>
          <a:prstGeom prst="line">
            <a:avLst/>
          </a:prstGeom>
          <a:noFill/>
          <a:ln w="19050">
            <a:solidFill>
              <a:srgbClr val="1F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19456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“발표자료도 코드로 관리한다”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3200400"/>
            <a:ext cx="11094415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B78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→ 캡처 → 발표자료</a:t>
            </a:r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의 전 과정을 자동화하여,</a:t>
            </a:r>
            <a:endParaRPr lang="en-US" sz="1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제품이 진화할 때마다 소개 자료가 손쉽게 함께 진화합니다.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6455664"/>
            <a:ext cx="11094415" cy="0"/>
          </a:xfrm>
          <a:prstGeom prst="line">
            <a:avLst/>
          </a:prstGeom>
          <a:noFill/>
          <a:ln w="12700">
            <a:solidFill>
              <a:srgbClr val="D7DB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7395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천문(天文) · 발표자료 자동화 파이프라인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814255" y="647395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- 7 -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천문 — 발표자료 자동화 파이프라인</dc:title>
  <dc:subject>PptxGenJS Presentation</dc:subject>
  <dc:creator/>
  <cp:lastModifiedBy/>
  <cp:revision>1</cp:revision>
  <dcterms:created xsi:type="dcterms:W3CDTF">2026-06-04T06:55:01Z</dcterms:created>
  <dcterms:modified xsi:type="dcterms:W3CDTF">2026-06-04T06:55:01Z</dcterms:modified>
</cp:coreProperties>
</file>